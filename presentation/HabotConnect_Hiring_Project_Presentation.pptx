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submission addresses the three assignment areas in one repository. The focus is secure infrastructure design, mistake-proofed delivery controls, and deterministic validation rather than a deployed production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implemented application path is React to Django, where the model serializer validates incoming data before it is saved. The Terraform resources establish the intended cloud data layers, but the repository does not implement an ingestion or transformation workload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is implemented as versioned Terraform configuration. It can be formatted and validated locally or in CI, while creation of resources remains an explicit, separate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D0 is configured as the controlled landing layer for raw incoming data. D1 provides the governed BigQuery foundation, including the table fields used by the onboarding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identity has a narrow, purpose-specific storage role instead of broad object administration. The IAM condition adds a resource-path restriction to the binding.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 access policy evaluates the authenticated BigQuery principal for the current session. It returns only rows whose `organization_id` equals that session value, as expressed by the current Terraform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Poka-Yoke gate: required quality and security checks are placed before a change can reach the workflow's success confirmation. The checks cover both infrastructure correctness and common repository hygiene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relies on failing step status to stop progression, which is the fail-closed behavior. The repository documentation records a successful CI execution and a Gitleaks result with no detected leaks.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DCYN provides a deterministic binary normalization rule for standalone Yes/No values. It intentionally accepts only the two normalized values, making invalid input explicit rather than ambiguous.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uses `StudentOnboardingSerializer` for request validation and persistence. Its current validation is model-derived; it has no status allowlist or custom cross-field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demonstrates the integration point with the Django API. It uses the same field names as the API and delegates server-side validation to Django REST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includes automated Django coverage for the validation behaviors shown in this presentation. Because a successful Django test execution was not verified in the current environment, the tests are described as implemented rather than passed; the frontend lint result was successfully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controls are applied at the storage, identity, data-access, and delivery stages. Together, these decisions reduce accidental exposure, over-privileged access, and silent acceptance of invalid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schema and validation limits are deliberately not represented as assignment-provided facts. The repository provides a schema and data-layer foundation, not a production streaming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posture is intentionally configuration-first and cost-conscious. The project demonstrates the requested foundations while preserving the distinction between validated code and an actual cloud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2A43"/>
          </a:solidFill>
          <a:ln w="12700">
            <a:solidFill>
              <a:srgbClr val="102A43"/>
            </a:solidFill>
            <a:prstDash val="solid"/>
          </a:ln>
        </p:spPr>
      </p:sp>
      <p:sp>
        <p:nvSpPr>
          <p:cNvPr id="3" name="Shape 1"/>
          <p:cNvSpPr/>
          <p:nvPr/>
        </p:nvSpPr>
        <p:spPr>
          <a:xfrm>
            <a:off x="0" y="0"/>
            <a:ext cx="201168" cy="6858000"/>
          </a:xfrm>
          <a:prstGeom prst="rect">
            <a:avLst/>
          </a:prstGeom>
          <a:solidFill>
            <a:srgbClr val="0EA5A8"/>
          </a:solidFill>
          <a:ln w="12700">
            <a:solidFill>
              <a:srgbClr val="0EA5A8"/>
            </a:solidFill>
            <a:prstDash val="solid"/>
          </a:ln>
        </p:spPr>
      </p:sp>
      <p:sp>
        <p:nvSpPr>
          <p:cNvPr id="4" name="Shape 2"/>
          <p:cNvSpPr/>
          <p:nvPr/>
        </p:nvSpPr>
        <p:spPr>
          <a:xfrm rot="1500000">
            <a:off x="8092440" y="576072"/>
            <a:ext cx="3246120" cy="3246120"/>
          </a:xfrm>
          <a:prstGeom prst="arc">
            <a:avLst/>
          </a:prstGeom>
          <a:noFill/>
          <a:ln w="38100">
            <a:solidFill>
              <a:srgbClr val="0EA5A8">
                <a:alpha val="95000"/>
              </a:srgbClr>
            </a:solidFill>
            <a:prstDash val="solid"/>
          </a:ln>
        </p:spPr>
      </p:sp>
      <p:sp>
        <p:nvSpPr>
          <p:cNvPr id="5" name="Shape 3"/>
          <p:cNvSpPr/>
          <p:nvPr/>
        </p:nvSpPr>
        <p:spPr>
          <a:xfrm>
            <a:off x="8851392" y="1325880"/>
            <a:ext cx="1737360" cy="1737360"/>
          </a:xfrm>
          <a:prstGeom prst="ellipse">
            <a:avLst/>
          </a:prstGeom>
          <a:solidFill>
            <a:srgbClr val="0EA5A8"/>
          </a:solidFill>
          <a:ln w="12700">
            <a:solidFill>
              <a:srgbClr val="0EA5A8"/>
            </a:solidFill>
            <a:prstDash val="solid"/>
          </a:ln>
        </p:spPr>
      </p:sp>
      <p:sp>
        <p:nvSpPr>
          <p:cNvPr id="6" name="Text 4"/>
          <p:cNvSpPr/>
          <p:nvPr/>
        </p:nvSpPr>
        <p:spPr>
          <a:xfrm>
            <a:off x="758952" y="694944"/>
            <a:ext cx="3017520" cy="210312"/>
          </a:xfrm>
          <a:prstGeom prst="rect">
            <a:avLst/>
          </a:prstGeom>
          <a:noFill/>
          <a:ln/>
        </p:spPr>
        <p:txBody>
          <a:bodyPr wrap="square" lIns="0" tIns="0" rIns="0" bIns="0" rtlCol="0" anchor="ctr"/>
          <a:lstStyle/>
          <a:p>
            <a:pPr indent="0" marL="0">
              <a:buNone/>
            </a:pPr>
            <a:r>
              <a:rPr lang="en-US" sz="1000" b="1" spc="150" kern="0" dirty="0">
                <a:solidFill>
                  <a:srgbClr val="A9C5D9"/>
                </a:solidFill>
                <a:latin typeface="Aptos" pitchFamily="34" charset="0"/>
                <a:ea typeface="Aptos" pitchFamily="34" charset="-122"/>
                <a:cs typeface="Aptos" pitchFamily="34" charset="-120"/>
              </a:rPr>
              <a:t>HABOTCONNECT</a:t>
            </a:r>
            <a:endParaRPr lang="en-US" sz="1000" dirty="0"/>
          </a:p>
        </p:txBody>
      </p:sp>
      <p:sp>
        <p:nvSpPr>
          <p:cNvPr id="7" name="Text 5"/>
          <p:cNvSpPr/>
          <p:nvPr/>
        </p:nvSpPr>
        <p:spPr>
          <a:xfrm>
            <a:off x="731520" y="1252728"/>
            <a:ext cx="7040880" cy="1051560"/>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Aptos Display" pitchFamily="34" charset="0"/>
                <a:ea typeface="Aptos Display" pitchFamily="34" charset="-122"/>
                <a:cs typeface="Aptos Display" pitchFamily="34" charset="-120"/>
              </a:rPr>
              <a:t>Project Objective and Context</a:t>
            </a:r>
            <a:endParaRPr lang="en-US" sz="3100" dirty="0"/>
          </a:p>
        </p:txBody>
      </p:sp>
      <p:sp>
        <p:nvSpPr>
          <p:cNvPr id="8" name="Shape 6"/>
          <p:cNvSpPr/>
          <p:nvPr/>
        </p:nvSpPr>
        <p:spPr>
          <a:xfrm>
            <a:off x="758952" y="2587752"/>
            <a:ext cx="1261872" cy="0"/>
          </a:xfrm>
          <a:prstGeom prst="line">
            <a:avLst/>
          </a:prstGeom>
          <a:noFill/>
          <a:ln w="31750">
            <a:solidFill>
              <a:srgbClr val="0EA5A8"/>
            </a:solidFill>
            <a:prstDash val="solid"/>
          </a:ln>
        </p:spPr>
      </p:sp>
      <p:sp>
        <p:nvSpPr>
          <p:cNvPr id="9" name="Shape 7"/>
          <p:cNvSpPr/>
          <p:nvPr/>
        </p:nvSpPr>
        <p:spPr>
          <a:xfrm>
            <a:off x="813816" y="2971800"/>
            <a:ext cx="91440" cy="91440"/>
          </a:xfrm>
          <a:prstGeom prst="ellipse">
            <a:avLst/>
          </a:prstGeom>
          <a:solidFill>
            <a:srgbClr val="0EA5A8"/>
          </a:solidFill>
          <a:ln w="12700">
            <a:solidFill>
              <a:srgbClr val="0EA5A8"/>
            </a:solidFill>
            <a:prstDash val="solid"/>
          </a:ln>
        </p:spPr>
      </p:sp>
      <p:sp>
        <p:nvSpPr>
          <p:cNvPr id="10" name="Text 8"/>
          <p:cNvSpPr/>
          <p:nvPr/>
        </p:nvSpPr>
        <p:spPr>
          <a:xfrm>
            <a:off x="1042416" y="2871216"/>
            <a:ext cx="6583680" cy="365760"/>
          </a:xfrm>
          <a:prstGeom prst="rect">
            <a:avLst/>
          </a:prstGeom>
          <a:noFill/>
          <a:ln/>
        </p:spPr>
        <p:txBody>
          <a:bodyPr wrap="square" lIns="0" tIns="0" rIns="0" bIns="0" rtlCol="0" anchor="ctr">
            <a:normAutofit/>
          </a:bodyPr>
          <a:lstStyle/>
          <a:p>
            <a:pPr indent="0" marL="0">
              <a:buNone/>
            </a:pPr>
            <a:r>
              <a:rPr lang="en-US" sz="1600" dirty="0">
                <a:solidFill>
                  <a:srgbClr val="E9F2F7"/>
                </a:solidFill>
                <a:latin typeface="Aptos" pitchFamily="34" charset="0"/>
                <a:ea typeface="Aptos" pitchFamily="34" charset="-122"/>
                <a:cs typeface="Aptos" pitchFamily="34" charset="-120"/>
              </a:rPr>
              <a:t>Junior Cloud &amp; DevOps Engineer hiring-project submission.</a:t>
            </a:r>
            <a:endParaRPr lang="en-US" sz="1600" dirty="0"/>
          </a:p>
        </p:txBody>
      </p:sp>
      <p:sp>
        <p:nvSpPr>
          <p:cNvPr id="11" name="Shape 9"/>
          <p:cNvSpPr/>
          <p:nvPr/>
        </p:nvSpPr>
        <p:spPr>
          <a:xfrm>
            <a:off x="813816" y="3511296"/>
            <a:ext cx="91440" cy="91440"/>
          </a:xfrm>
          <a:prstGeom prst="ellipse">
            <a:avLst/>
          </a:prstGeom>
          <a:solidFill>
            <a:srgbClr val="0EA5A8"/>
          </a:solidFill>
          <a:ln w="12700">
            <a:solidFill>
              <a:srgbClr val="0EA5A8"/>
            </a:solidFill>
            <a:prstDash val="solid"/>
          </a:ln>
        </p:spPr>
      </p:sp>
      <p:sp>
        <p:nvSpPr>
          <p:cNvPr id="12" name="Text 10"/>
          <p:cNvSpPr/>
          <p:nvPr/>
        </p:nvSpPr>
        <p:spPr>
          <a:xfrm>
            <a:off x="1042416" y="3410712"/>
            <a:ext cx="6583680" cy="365760"/>
          </a:xfrm>
          <a:prstGeom prst="rect">
            <a:avLst/>
          </a:prstGeom>
          <a:noFill/>
          <a:ln/>
        </p:spPr>
        <p:txBody>
          <a:bodyPr wrap="square" lIns="0" tIns="0" rIns="0" bIns="0" rtlCol="0" anchor="ctr">
            <a:normAutofit/>
          </a:bodyPr>
          <a:lstStyle/>
          <a:p>
            <a:pPr indent="0" marL="0">
              <a:buNone/>
            </a:pPr>
            <a:r>
              <a:rPr lang="en-US" sz="1600" dirty="0">
                <a:solidFill>
                  <a:srgbClr val="E9F2F7"/>
                </a:solidFill>
                <a:latin typeface="Aptos" pitchFamily="34" charset="0"/>
                <a:ea typeface="Aptos" pitchFamily="34" charset="-122"/>
                <a:cs typeface="Aptos" pitchFamily="34" charset="-120"/>
              </a:rPr>
              <a:t>Covers secure Terraform infrastructure, Poka-Yoke CI controls, and onboarding validation.</a:t>
            </a:r>
            <a:endParaRPr lang="en-US" sz="1600" dirty="0"/>
          </a:p>
        </p:txBody>
      </p:sp>
      <p:sp>
        <p:nvSpPr>
          <p:cNvPr id="13" name="Shape 11"/>
          <p:cNvSpPr/>
          <p:nvPr/>
        </p:nvSpPr>
        <p:spPr>
          <a:xfrm>
            <a:off x="813816" y="4050792"/>
            <a:ext cx="91440" cy="91440"/>
          </a:xfrm>
          <a:prstGeom prst="ellipse">
            <a:avLst/>
          </a:prstGeom>
          <a:solidFill>
            <a:srgbClr val="0EA5A8"/>
          </a:solidFill>
          <a:ln w="12700">
            <a:solidFill>
              <a:srgbClr val="0EA5A8"/>
            </a:solidFill>
            <a:prstDash val="solid"/>
          </a:ln>
        </p:spPr>
      </p:sp>
      <p:sp>
        <p:nvSpPr>
          <p:cNvPr id="14" name="Text 12"/>
          <p:cNvSpPr/>
          <p:nvPr/>
        </p:nvSpPr>
        <p:spPr>
          <a:xfrm>
            <a:off x="1042416" y="3950208"/>
            <a:ext cx="6583680" cy="365760"/>
          </a:xfrm>
          <a:prstGeom prst="rect">
            <a:avLst/>
          </a:prstGeom>
          <a:noFill/>
          <a:ln/>
        </p:spPr>
        <p:txBody>
          <a:bodyPr wrap="square" lIns="0" tIns="0" rIns="0" bIns="0" rtlCol="0" anchor="ctr">
            <a:normAutofit/>
          </a:bodyPr>
          <a:lstStyle/>
          <a:p>
            <a:pPr indent="0" marL="0">
              <a:buNone/>
            </a:pPr>
            <a:r>
              <a:rPr lang="en-US" sz="1600" dirty="0">
                <a:solidFill>
                  <a:srgbClr val="E9F2F7"/>
                </a:solidFill>
                <a:latin typeface="Aptos" pitchFamily="34" charset="0"/>
                <a:ea typeface="Aptos" pitchFamily="34" charset="-122"/>
                <a:cs typeface="Aptos" pitchFamily="34" charset="-120"/>
              </a:rPr>
              <a:t>Combines Google Cloud configuration, Django REST Framework, and React/Vite.</a:t>
            </a:r>
            <a:endParaRPr lang="en-US" sz="1600" dirty="0"/>
          </a:p>
        </p:txBody>
      </p:sp>
      <p:sp>
        <p:nvSpPr>
          <p:cNvPr id="15" name="Shape 13"/>
          <p:cNvSpPr/>
          <p:nvPr/>
        </p:nvSpPr>
        <p:spPr>
          <a:xfrm>
            <a:off x="813816" y="4590288"/>
            <a:ext cx="91440" cy="91440"/>
          </a:xfrm>
          <a:prstGeom prst="ellipse">
            <a:avLst/>
          </a:prstGeom>
          <a:solidFill>
            <a:srgbClr val="0EA5A8"/>
          </a:solidFill>
          <a:ln w="12700">
            <a:solidFill>
              <a:srgbClr val="0EA5A8"/>
            </a:solidFill>
            <a:prstDash val="solid"/>
          </a:ln>
        </p:spPr>
      </p:sp>
      <p:sp>
        <p:nvSpPr>
          <p:cNvPr id="16" name="Text 14"/>
          <p:cNvSpPr/>
          <p:nvPr/>
        </p:nvSpPr>
        <p:spPr>
          <a:xfrm>
            <a:off x="1042416" y="4489704"/>
            <a:ext cx="6583680" cy="365760"/>
          </a:xfrm>
          <a:prstGeom prst="rect">
            <a:avLst/>
          </a:prstGeom>
          <a:noFill/>
          <a:ln/>
        </p:spPr>
        <p:txBody>
          <a:bodyPr wrap="square" lIns="0" tIns="0" rIns="0" bIns="0" rtlCol="0" anchor="ctr">
            <a:normAutofit/>
          </a:bodyPr>
          <a:lstStyle/>
          <a:p>
            <a:pPr indent="0" marL="0">
              <a:buNone/>
            </a:pPr>
            <a:r>
              <a:rPr lang="en-US" sz="1600" dirty="0">
                <a:solidFill>
                  <a:srgbClr val="E9F2F7"/>
                </a:solidFill>
                <a:latin typeface="Aptos" pitchFamily="34" charset="0"/>
                <a:ea typeface="Aptos" pitchFamily="34" charset="-122"/>
                <a:cs typeface="Aptos" pitchFamily="34" charset="-120"/>
              </a:rPr>
              <a:t>Developed without paid cloud deployment.</a:t>
            </a:r>
            <a:endParaRPr lang="en-US" sz="1600" dirty="0"/>
          </a:p>
        </p:txBody>
      </p:sp>
      <p:sp>
        <p:nvSpPr>
          <p:cNvPr id="17" name="Text 15"/>
          <p:cNvSpPr/>
          <p:nvPr/>
        </p:nvSpPr>
        <p:spPr>
          <a:xfrm>
            <a:off x="758952" y="5989320"/>
            <a:ext cx="1920240" cy="173736"/>
          </a:xfrm>
          <a:prstGeom prst="rect">
            <a:avLst/>
          </a:prstGeom>
          <a:noFill/>
          <a:ln/>
        </p:spPr>
        <p:txBody>
          <a:bodyPr wrap="square" lIns="0" tIns="0" rIns="0" bIns="0" rtlCol="0" anchor="ctr"/>
          <a:lstStyle/>
          <a:p>
            <a:pPr indent="0" marL="0">
              <a:buNone/>
            </a:pPr>
            <a:r>
              <a:rPr lang="en-US" sz="850" b="1" spc="125" kern="0" dirty="0">
                <a:solidFill>
                  <a:srgbClr val="0EA5A8"/>
                </a:solidFill>
                <a:latin typeface="Aptos" pitchFamily="34" charset="0"/>
                <a:ea typeface="Aptos" pitchFamily="34" charset="-122"/>
                <a:cs typeface="Aptos" pitchFamily="34" charset="-120"/>
              </a:rPr>
              <a:t>FINAL SUBMISSION</a:t>
            </a:r>
            <a:endParaRPr lang="en-US" sz="850" dirty="0"/>
          </a:p>
        </p:txBody>
      </p:sp>
      <p:sp>
        <p:nvSpPr>
          <p:cNvPr id="18" name="Text 16"/>
          <p:cNvSpPr/>
          <p:nvPr/>
        </p:nvSpPr>
        <p:spPr>
          <a:xfrm>
            <a:off x="10771632" y="5943600"/>
            <a:ext cx="548640" cy="201168"/>
          </a:xfrm>
          <a:prstGeom prst="rect">
            <a:avLst/>
          </a:prstGeom>
          <a:noFill/>
          <a:ln/>
        </p:spPr>
        <p:txBody>
          <a:bodyPr wrap="square" lIns="0" tIns="0" rIns="0" bIns="0" rtlCol="0" anchor="ctr"/>
          <a:lstStyle/>
          <a:p>
            <a:pPr algn="r" indent="0" marL="0">
              <a:buNone/>
            </a:pPr>
            <a:r>
              <a:rPr lang="en-US" sz="900" b="1" dirty="0">
                <a:solidFill>
                  <a:srgbClr val="FFFFFF"/>
                </a:solidFill>
                <a:latin typeface="Aptos" pitchFamily="34" charset="0"/>
                <a:ea typeface="Aptos" pitchFamily="34" charset="-122"/>
                <a:cs typeface="Aptos"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Architecture and Data Flow</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React/Vite captures onboarding form data.</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frontend sends JSON to the Django REST Framework endpoint.</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Django validates and persists `StudentOnboarding` records.</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Terraform defines separate D0 raw-storage and D1 BigQuery data-layer foundations.</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02</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Task 1: Terraform Secure Staging Infrastructure</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Requires Terraform 1.6 or later and the Google provider 8.x.</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Defines storage, BigQuery, IAM, Row-Level Security, and App Engine resources.</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Uses variables for the project, region, bucket name, and dataset ID.</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Configuration is defined but not applied.</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03</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D0 Raw Landing and D1 Staged/Enforced</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D0 is a regional Google Cloud Storage raw-landing bucket.</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D0 enables uniform bucket-level access, public-access prevention, versioning, and seven-day soft delete.</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D1 is a regional BigQuery dataset labelled `d1` and `staged-enforced`.</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D1 contains the protected `student_onboarding` table with required string columns.</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04</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IAM and Least Privilege</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Creates the dedicated `habot-data-pipeline` service account.</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Grants `roles/storage.objectCreator` on the D0 bucket.</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Avoids object-administration permissions in the configured binding.</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`RawLandingBucketOnly` limits access to the D0 object resource path.</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05</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BigQuery Row-Level Security</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`organization_id` is the `student_onboarding` row-security boundary.</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Terraform creates the `student_onboarding_principal_access` policy.</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policy filter is `organization_id = SESSION_USER()`.</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configured policy grantee is `allAuthenticatedUsers`.</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06</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Task 2: Poka-Yoke CI/CD Pipeline</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GitHub Actions runs on pushes and pull requests targeting `main`.</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Terraform formatting, initialization, and validation are required gates.</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YAML linting and Gitleaks secret scanning are required gates.</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workflow uses a single quality-and-security job.</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07</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Fail-Closed Behavior and Secret Scanning</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A failed required step stops the GitHub Actions job.</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final success confirmation is not reached after a failed gate.</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Gitleaks scans for committed secrets and credentials.</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CI documentation records a successful run with no detected leaks.</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08</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Task 3: Incoming JSON and DCYN Validation</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DCYN is implemented by the reusable `normalize_yes_no()` function.</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It accepts strings, trims whitespace, and compares case-insensitively.</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`Yes` normalizes to `True`; `No` normalizes to `False`.</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Other values and non-string inputs raise `ValueError`.</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09</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Django REST Framework API and Serializer Validation</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`POST /api/student-onboarding/` accepts onboarding requests.</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Valid requests are saved and return HTTP 201.</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Invalid serializer data returns HTTP 400.</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model serializer enforces required fields and model maximum lengths.</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10</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React Frontend and API Integration</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React/Vite provides a form for the four onboarding fields.</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form sends JSON to `/api/student-onboarding/`.</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UI displays acceptance, validation-failure, or request-failure messages.</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Vite development proxy routes `/api` to `http://127.0.0.1:8000`.</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11</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Testing and Validation Evidence</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Django tests are implemented for DCYN, `YesNoField`, serializer validation, and API responses.</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test suite includes valid and invalid onboarding request cases.</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Django test execution result is not claimed here.</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`npm run lint` completed successfully in the current workspace.</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12</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Security Decisions and Mistake-Proofing</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D0 blocks public access and centralizes access with bucket-level controls.</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pipeline identity receives a narrowly scoped storage role and condition.</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BigQuery row access is filtered by `organization_id` and `SESSION_USER()`.</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CI blocks progression when required quality or security gates fail.</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13</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Limitations and Assignment Caveats</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assignment did not provide the Task 3 incoming JSON payload.</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assignment did not provide exact Task 3 validation limits.</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Field names, lengths, sample payloads, and frontend status options are implementation choices.</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No production Pub/Sub-to-BigQuery streaming pipeline is implemented.</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14</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0EA5A8"/>
          </a:solidFill>
          <a:ln w="12700">
            <a:solidFill>
              <a:srgbClr val="0EA5A8"/>
            </a:solidFill>
            <a:prstDash val="solid"/>
          </a:ln>
        </p:spPr>
      </p:sp>
      <p:sp>
        <p:nvSpPr>
          <p:cNvPr id="3" name="Text 1"/>
          <p:cNvSpPr/>
          <p:nvPr/>
        </p:nvSpPr>
        <p:spPr>
          <a:xfrm>
            <a:off x="713232" y="411480"/>
            <a:ext cx="4297680" cy="164592"/>
          </a:xfrm>
          <a:prstGeom prst="rect">
            <a:avLst/>
          </a:prstGeom>
          <a:noFill/>
          <a:ln/>
        </p:spPr>
        <p:txBody>
          <a:bodyPr wrap="square" lIns="0" tIns="0" rIns="0" bIns="0" rtlCol="0" anchor="ctr"/>
          <a:lstStyle/>
          <a:p>
            <a:pPr indent="0" marL="0">
              <a:buNone/>
            </a:pPr>
            <a:r>
              <a:rPr lang="en-US" sz="850" b="1" spc="105" kern="0" dirty="0">
                <a:solidFill>
                  <a:srgbClr val="486581"/>
                </a:solidFill>
                <a:latin typeface="Aptos" pitchFamily="34" charset="0"/>
                <a:ea typeface="Aptos" pitchFamily="34" charset="-122"/>
                <a:cs typeface="Aptos" pitchFamily="34" charset="-120"/>
              </a:rPr>
              <a:t>HABOTCONNECT  /  FINAL SUBMISSION</a:t>
            </a:r>
            <a:endParaRPr lang="en-US" sz="850" dirty="0"/>
          </a:p>
        </p:txBody>
      </p:sp>
      <p:sp>
        <p:nvSpPr>
          <p:cNvPr id="4" name="Text 2"/>
          <p:cNvSpPr/>
          <p:nvPr/>
        </p:nvSpPr>
        <p:spPr>
          <a:xfrm>
            <a:off x="694944" y="731520"/>
            <a:ext cx="8686800" cy="566928"/>
          </a:xfrm>
          <a:prstGeom prst="rect">
            <a:avLst/>
          </a:prstGeom>
          <a:noFill/>
          <a:ln/>
        </p:spPr>
        <p:txBody>
          <a:bodyPr wrap="square" lIns="0" tIns="0" rIns="0" bIns="0" rtlCol="0" anchor="ctr">
            <a:normAutofit/>
          </a:bodyPr>
          <a:lstStyle/>
          <a:p>
            <a:pPr indent="0" marL="0">
              <a:buNone/>
            </a:pPr>
            <a:r>
              <a:rPr lang="en-US" sz="2500" b="1" dirty="0">
                <a:solidFill>
                  <a:srgbClr val="102A43"/>
                </a:solidFill>
                <a:latin typeface="Aptos Display" pitchFamily="34" charset="0"/>
                <a:ea typeface="Aptos Display" pitchFamily="34" charset="-122"/>
                <a:cs typeface="Aptos Display" pitchFamily="34" charset="-120"/>
              </a:rPr>
              <a:t>Deployment Posture and Conclusion</a:t>
            </a:r>
            <a:endParaRPr lang="en-US" sz="2500" dirty="0"/>
          </a:p>
        </p:txBody>
      </p:sp>
      <p:sp>
        <p:nvSpPr>
          <p:cNvPr id="5" name="Shape 3"/>
          <p:cNvSpPr/>
          <p:nvPr/>
        </p:nvSpPr>
        <p:spPr>
          <a:xfrm>
            <a:off x="722376" y="1389888"/>
            <a:ext cx="1115568" cy="0"/>
          </a:xfrm>
          <a:prstGeom prst="line">
            <a:avLst/>
          </a:prstGeom>
          <a:noFill/>
          <a:ln w="27940">
            <a:solidFill>
              <a:srgbClr val="0EA5A8"/>
            </a:solidFill>
            <a:prstDash val="solid"/>
          </a:ln>
        </p:spPr>
      </p:sp>
      <p:sp>
        <p:nvSpPr>
          <p:cNvPr id="6" name="Shape 4"/>
          <p:cNvSpPr/>
          <p:nvPr/>
        </p:nvSpPr>
        <p:spPr>
          <a:xfrm>
            <a:off x="658368" y="1700784"/>
            <a:ext cx="8613648" cy="4251960"/>
          </a:xfrm>
          <a:prstGeom prst="roundRect">
            <a:avLst>
              <a:gd name="adj" fmla="val 1290"/>
            </a:avLst>
          </a:prstGeom>
          <a:solidFill>
            <a:srgbClr val="F6F9FC"/>
          </a:solidFill>
          <a:ln w="8890">
            <a:solidFill>
              <a:srgbClr val="E7EEF5"/>
            </a:solidFill>
            <a:prstDash val="solid"/>
          </a:ln>
        </p:spPr>
      </p:sp>
      <p:sp>
        <p:nvSpPr>
          <p:cNvPr id="7" name="Shape 5"/>
          <p:cNvSpPr/>
          <p:nvPr/>
        </p:nvSpPr>
        <p:spPr>
          <a:xfrm>
            <a:off x="859536" y="2185416"/>
            <a:ext cx="91440" cy="91440"/>
          </a:xfrm>
          <a:prstGeom prst="ellipse">
            <a:avLst/>
          </a:prstGeom>
          <a:solidFill>
            <a:srgbClr val="0EA5A8"/>
          </a:solidFill>
          <a:ln w="12700">
            <a:solidFill>
              <a:srgbClr val="0EA5A8"/>
            </a:solidFill>
            <a:prstDash val="solid"/>
          </a:ln>
        </p:spPr>
      </p:sp>
      <p:sp>
        <p:nvSpPr>
          <p:cNvPr id="8" name="Text 6"/>
          <p:cNvSpPr/>
          <p:nvPr/>
        </p:nvSpPr>
        <p:spPr>
          <a:xfrm>
            <a:off x="1069848" y="2084832"/>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No Google Cloud resources were created for this submission.</a:t>
            </a:r>
            <a:endParaRPr lang="en-US" sz="1750" dirty="0"/>
          </a:p>
        </p:txBody>
      </p:sp>
      <p:sp>
        <p:nvSpPr>
          <p:cNvPr id="9" name="Shape 7"/>
          <p:cNvSpPr/>
          <p:nvPr/>
        </p:nvSpPr>
        <p:spPr>
          <a:xfrm>
            <a:off x="859536" y="3035808"/>
            <a:ext cx="91440" cy="91440"/>
          </a:xfrm>
          <a:prstGeom prst="ellipse">
            <a:avLst/>
          </a:prstGeom>
          <a:solidFill>
            <a:srgbClr val="0EA5A8"/>
          </a:solidFill>
          <a:ln w="12700">
            <a:solidFill>
              <a:srgbClr val="0EA5A8"/>
            </a:solidFill>
            <a:prstDash val="solid"/>
          </a:ln>
        </p:spPr>
      </p:sp>
      <p:sp>
        <p:nvSpPr>
          <p:cNvPr id="10" name="Text 8"/>
          <p:cNvSpPr/>
          <p:nvPr/>
        </p:nvSpPr>
        <p:spPr>
          <a:xfrm>
            <a:off x="1069848" y="2935224"/>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Terraform checks validate configuration; they do not provision resources.</a:t>
            </a:r>
            <a:endParaRPr lang="en-US" sz="1750" dirty="0"/>
          </a:p>
        </p:txBody>
      </p:sp>
      <p:sp>
        <p:nvSpPr>
          <p:cNvPr id="11" name="Shape 9"/>
          <p:cNvSpPr/>
          <p:nvPr/>
        </p:nvSpPr>
        <p:spPr>
          <a:xfrm>
            <a:off x="859536" y="3886200"/>
            <a:ext cx="91440" cy="91440"/>
          </a:xfrm>
          <a:prstGeom prst="ellipse">
            <a:avLst/>
          </a:prstGeom>
          <a:solidFill>
            <a:srgbClr val="0EA5A8"/>
          </a:solidFill>
          <a:ln w="12700">
            <a:solidFill>
              <a:srgbClr val="0EA5A8"/>
            </a:solidFill>
            <a:prstDash val="solid"/>
          </a:ln>
        </p:spPr>
      </p:sp>
      <p:sp>
        <p:nvSpPr>
          <p:cNvPr id="12" name="Text 10"/>
          <p:cNvSpPr/>
          <p:nvPr/>
        </p:nvSpPr>
        <p:spPr>
          <a:xfrm>
            <a:off x="1069848" y="3785616"/>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Deployment would require a configured Google Cloud project and explicit `terraform apply`.</a:t>
            </a:r>
            <a:endParaRPr lang="en-US" sz="1750" dirty="0"/>
          </a:p>
        </p:txBody>
      </p:sp>
      <p:sp>
        <p:nvSpPr>
          <p:cNvPr id="13" name="Shape 11"/>
          <p:cNvSpPr/>
          <p:nvPr/>
        </p:nvSpPr>
        <p:spPr>
          <a:xfrm>
            <a:off x="859536" y="4736592"/>
            <a:ext cx="91440" cy="91440"/>
          </a:xfrm>
          <a:prstGeom prst="ellipse">
            <a:avLst/>
          </a:prstGeom>
          <a:solidFill>
            <a:srgbClr val="0EA5A8"/>
          </a:solidFill>
          <a:ln w="12700">
            <a:solidFill>
              <a:srgbClr val="0EA5A8"/>
            </a:solidFill>
            <a:prstDash val="solid"/>
          </a:ln>
        </p:spPr>
      </p:sp>
      <p:sp>
        <p:nvSpPr>
          <p:cNvPr id="14" name="Text 12"/>
          <p:cNvSpPr/>
          <p:nvPr/>
        </p:nvSpPr>
        <p:spPr>
          <a:xfrm>
            <a:off x="1069848" y="4636008"/>
            <a:ext cx="8001000" cy="493776"/>
          </a:xfrm>
          <a:prstGeom prst="rect">
            <a:avLst/>
          </a:prstGeom>
          <a:noFill/>
          <a:ln/>
        </p:spPr>
        <p:txBody>
          <a:bodyPr wrap="square" lIns="0" tIns="0" rIns="0" bIns="0" rtlCol="0" anchor="ctr">
            <a:normAutofit/>
          </a:bodyPr>
          <a:lstStyle/>
          <a:p>
            <a:pPr indent="0" marL="0">
              <a:buNone/>
            </a:pPr>
            <a:r>
              <a:rPr lang="en-US" sz="1750" dirty="0">
                <a:solidFill>
                  <a:srgbClr val="172B4D"/>
                </a:solidFill>
                <a:latin typeface="Aptos" pitchFamily="34" charset="0"/>
                <a:ea typeface="Aptos" pitchFamily="34" charset="-122"/>
                <a:cs typeface="Aptos" pitchFamily="34" charset="-120"/>
              </a:rPr>
              <a:t>The submission demonstrates secure design, fail-closed automation, and validation foundations.</a:t>
            </a:r>
            <a:endParaRPr lang="en-US" sz="1750" dirty="0"/>
          </a:p>
        </p:txBody>
      </p:sp>
      <p:sp>
        <p:nvSpPr>
          <p:cNvPr id="15" name="Shape 13"/>
          <p:cNvSpPr/>
          <p:nvPr/>
        </p:nvSpPr>
        <p:spPr>
          <a:xfrm>
            <a:off x="9756648" y="0"/>
            <a:ext cx="2435047" cy="6858000"/>
          </a:xfrm>
          <a:prstGeom prst="rect">
            <a:avLst/>
          </a:prstGeom>
          <a:solidFill>
            <a:srgbClr val="102A43"/>
          </a:solidFill>
          <a:ln w="12700">
            <a:solidFill>
              <a:srgbClr val="102A43"/>
            </a:solidFill>
            <a:prstDash val="solid"/>
          </a:ln>
        </p:spPr>
      </p:sp>
      <p:sp>
        <p:nvSpPr>
          <p:cNvPr id="16" name="Shape 14"/>
          <p:cNvSpPr/>
          <p:nvPr/>
        </p:nvSpPr>
        <p:spPr>
          <a:xfrm rot="1500000">
            <a:off x="10030968" y="950976"/>
            <a:ext cx="1627632" cy="1627632"/>
          </a:xfrm>
          <a:prstGeom prst="arc">
            <a:avLst/>
          </a:prstGeom>
          <a:noFill/>
          <a:ln w="27940">
            <a:solidFill>
              <a:srgbClr val="0EA5A8">
                <a:alpha val="88000"/>
              </a:srgbClr>
            </a:solidFill>
            <a:prstDash val="solid"/>
          </a:ln>
        </p:spPr>
      </p:sp>
      <p:sp>
        <p:nvSpPr>
          <p:cNvPr id="17" name="Shape 15"/>
          <p:cNvSpPr/>
          <p:nvPr/>
        </p:nvSpPr>
        <p:spPr>
          <a:xfrm>
            <a:off x="10314432" y="1252728"/>
            <a:ext cx="1060704" cy="1060704"/>
          </a:xfrm>
          <a:prstGeom prst="ellipse">
            <a:avLst/>
          </a:prstGeom>
          <a:solidFill>
            <a:srgbClr val="0EA5A8"/>
          </a:solidFill>
          <a:ln w="12700">
            <a:solidFill>
              <a:srgbClr val="0EA5A8"/>
            </a:solidFill>
            <a:prstDash val="solid"/>
          </a:ln>
        </p:spPr>
      </p:sp>
      <p:sp>
        <p:nvSpPr>
          <p:cNvPr id="18" name="Text 16"/>
          <p:cNvSpPr/>
          <p:nvPr/>
        </p:nvSpPr>
        <p:spPr>
          <a:xfrm>
            <a:off x="10314432" y="1554480"/>
            <a:ext cx="10607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15</a:t>
            </a:r>
            <a:endParaRPr lang="en-US" sz="1500" dirty="0"/>
          </a:p>
        </p:txBody>
      </p:sp>
      <p:sp>
        <p:nvSpPr>
          <p:cNvPr id="19" name="Text 17"/>
          <p:cNvSpPr/>
          <p:nvPr/>
        </p:nvSpPr>
        <p:spPr>
          <a:xfrm>
            <a:off x="10040112" y="2926080"/>
            <a:ext cx="1554480" cy="164592"/>
          </a:xfrm>
          <a:prstGeom prst="rect">
            <a:avLst/>
          </a:prstGeom>
          <a:noFill/>
          <a:ln/>
        </p:spPr>
        <p:txBody>
          <a:bodyPr wrap="square" lIns="0" tIns="0" rIns="0" bIns="0" rtlCol="0" anchor="ctr"/>
          <a:lstStyle/>
          <a:p>
            <a:pPr algn="ctr" indent="0" marL="0">
              <a:buNone/>
            </a:pPr>
            <a:r>
              <a:rPr lang="en-US" sz="750" b="1" spc="140" kern="0" dirty="0">
                <a:solidFill>
                  <a:srgbClr val="A9C5D9"/>
                </a:solidFill>
                <a:latin typeface="Aptos" pitchFamily="34" charset="0"/>
                <a:ea typeface="Aptos" pitchFamily="34" charset="-122"/>
                <a:cs typeface="Aptos" pitchFamily="34" charset="-120"/>
              </a:rPr>
              <a:t>HIRING PROJECT</a:t>
            </a:r>
            <a:endParaRPr lang="en-US" sz="750" dirty="0"/>
          </a:p>
        </p:txBody>
      </p:sp>
      <p:sp>
        <p:nvSpPr>
          <p:cNvPr id="20" name="Shape 18"/>
          <p:cNvSpPr/>
          <p:nvPr/>
        </p:nvSpPr>
        <p:spPr>
          <a:xfrm>
            <a:off x="10287000" y="3319272"/>
            <a:ext cx="768096" cy="0"/>
          </a:xfrm>
          <a:prstGeom prst="line">
            <a:avLst/>
          </a:prstGeom>
          <a:noFill/>
          <a:ln w="19050">
            <a:solidFill>
              <a:srgbClr val="0EA5A8"/>
            </a:solidFill>
            <a:prstDash val="solid"/>
          </a:ln>
        </p:spPr>
      </p:sp>
      <p:sp>
        <p:nvSpPr>
          <p:cNvPr id="21" name="Shape 19"/>
          <p:cNvSpPr/>
          <p:nvPr/>
        </p:nvSpPr>
        <p:spPr>
          <a:xfrm>
            <a:off x="658368" y="6428232"/>
            <a:ext cx="10899648" cy="0"/>
          </a:xfrm>
          <a:prstGeom prst="line">
            <a:avLst/>
          </a:prstGeom>
          <a:noFill/>
          <a:ln w="9525">
            <a:solidFill>
              <a:srgbClr val="D9E2EC"/>
            </a:solidFill>
            <a:prstDash val="solid"/>
          </a:ln>
        </p:spPr>
      </p:sp>
      <p:sp>
        <p:nvSpPr>
          <p:cNvPr id="22" name="Text 20"/>
          <p:cNvSpPr/>
          <p:nvPr/>
        </p:nvSpPr>
        <p:spPr>
          <a:xfrm>
            <a:off x="713232" y="6492240"/>
            <a:ext cx="5212080" cy="164592"/>
          </a:xfrm>
          <a:prstGeom prst="rect">
            <a:avLst/>
          </a:prstGeom>
          <a:noFill/>
          <a:ln/>
        </p:spPr>
        <p:txBody>
          <a:bodyPr wrap="square" lIns="0" tIns="0" rIns="0" bIns="0" rtlCol="0" anchor="ctr"/>
          <a:lstStyle/>
          <a:p>
            <a:pPr indent="0" marL="0">
              <a:buNone/>
            </a:pPr>
            <a:r>
              <a:rPr lang="en-US" sz="850" dirty="0">
                <a:solidFill>
                  <a:srgbClr val="6B7C93"/>
                </a:solidFill>
                <a:latin typeface="Aptos" pitchFamily="34" charset="0"/>
                <a:ea typeface="Aptos" pitchFamily="34" charset="-122"/>
                <a:cs typeface="Aptos" pitchFamily="34" charset="-120"/>
              </a:rPr>
              <a:t>HabotConnect • Junior Cloud &amp; DevOps Engineer</a:t>
            </a:r>
            <a:endParaRPr lang="en-US" sz="850" dirty="0"/>
          </a:p>
        </p:txBody>
      </p:sp>
      <p:sp>
        <p:nvSpPr>
          <p:cNvPr id="23" name="Text 21"/>
          <p:cNvSpPr/>
          <p:nvPr/>
        </p:nvSpPr>
        <p:spPr>
          <a:xfrm>
            <a:off x="10908792" y="6464808"/>
            <a:ext cx="566928" cy="201168"/>
          </a:xfrm>
          <a:prstGeom prst="rect">
            <a:avLst/>
          </a:prstGeom>
          <a:noFill/>
          <a:ln/>
        </p:spPr>
        <p:txBody>
          <a:bodyPr wrap="square" lIns="0" tIns="0" rIns="0" bIns="0" rtlCol="0" anchor="ctr"/>
          <a:lstStyle/>
          <a:p>
            <a:pPr algn="r" indent="0" marL="0">
              <a:buNone/>
            </a:pPr>
            <a:r>
              <a:rPr lang="en-US" sz="900" b="1" dirty="0">
                <a:solidFill>
                  <a:srgbClr val="0EA5A8"/>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HabotConnect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HabotConnect Hiring Project Presentation</dc:title>
  <dc:subject>Junior Cloud &amp; DevOps Engineer hiring project</dc:subject>
  <dc:creator>HabotConnect Hiring Project</dc:creator>
  <cp:lastModifiedBy>HabotConnect Hiring Project</cp:lastModifiedBy>
  <cp:revision>1</cp:revision>
  <dcterms:created xsi:type="dcterms:W3CDTF">2026-09-12T04:40:43Z</dcterms:created>
  <dcterms:modified xsi:type="dcterms:W3CDTF">2026-09-12T04:40:43Z</dcterms:modified>
</cp:coreProperties>
</file>